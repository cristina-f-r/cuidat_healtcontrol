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media/image1.png" ContentType="image/png"/>
  <Override PartName="/ppt/media/image2.png" ContentType="image/png"/>
  <Override PartName="/ppt/media/image30.png" ContentType="image/png"/>
  <Override PartName="/ppt/media/image3.png" ContentType="image/png"/>
  <Override PartName="/ppt/media/image31.png" ContentType="image/png"/>
  <Override PartName="/ppt/media/image4.png" ContentType="image/png"/>
  <Override PartName="/ppt/media/image5.png" ContentType="image/png"/>
  <Override PartName="/ppt/media/image32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33.png" ContentType="image/png"/>
  <Override PartName="/ppt/media/image7.png" ContentType="image/png"/>
  <Override PartName="/ppt/media/image12.png" ContentType="image/png"/>
  <Override PartName="/ppt/media/image34.png" ContentType="image/png"/>
  <Override PartName="/ppt/media/image8.png" ContentType="image/png"/>
  <Override PartName="/ppt/media/image13.png" ContentType="image/png"/>
  <Override PartName="/ppt/media/image35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1CECE50-D9D5-45B8-8C28-C40456545DA6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Presentación: soy Cristina y este es CuidaT, mi trabajo final del máster. La demo está desplegada en cuidat.onrender.com.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621087-13A7-4809-88D5-1A2299B7F7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CuidaT nace de un problema cotidiano: cuesta saber qué provoca un síntoma. El objetivo es registrar de forma visual y que la app detecte coincidencias repetidas para llevarlas a la consulta con datos.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2A18B6-8EE1-4200-83E4-FED573049A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 modo invitado hay un calendario del mes actual con seis ítems. Para registrar algo se arrastra el ítem al día o se selecciona y se pulsa el día: los dos caminos funcionan siempre por accesibilidad.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9E570D-4337-4B71-A788-CFF05E9EA6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El motor está en shared/src/correlation.ts y lo usan cliente y servidor. Es determinista y está probado al 100 %.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C2FD72-10D5-40E7-AB30-ED3939B513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 probar el modo consulta vi que marcar los días del síntoma no ayudaba y decidí marcar los del desencadenante.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1259CF-34D9-4E50-B52F-59B6C7ACEC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Desde Ver resúmenes se guarda un informe; se consulta desde Informes guardados y se descarga en PDF.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857718-4AF5-4FC0-A80F-F4DF1A760A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Resumen de todo lo que hace la aplicación.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068DD-EA8F-4135-8D73-12C8BDB270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El cliente no sabe si sus datos vienen del navegador o de la API: depende de una interfaz de repositorio. Sin conexión, los cambios van a una cola en IndexedDB que se sincroniza sola.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CB8B81-FEEB-42EC-A49B-1FFD08259E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Repaso de tecnologías por capa.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5C56C3-5346-451A-ACA5-64BC916D9C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Los tests del servidor usan un PostgreSQL real en memoria (PGlite) con las migraciones reales. Las E2E se ejecutan contra una rama de pruebas de Neon.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845D8-E449-4FD4-B4AC-5BF818ED81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Como son datos de salud, la privacidad es central. Para borrar la cuenta hay que escribir ELIMINAR.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596630-F813-4195-89DE-49D5D6B438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 aplicación está desplegada en Render con Docker, en la región de Frankfurt, y la base de datos en Neon (UE).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0635D4-2B47-4A8A-B908-B216DAA030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Trabajé guiada por especificación. Mi papel era planificar, revisar y decidir.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2C3009-C85A-4265-A643-F12D124966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Cierre y enlaces.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DAF5EA-E4C0-45FA-9087-47134A715A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40080" y="2194560"/>
            <a:ext cx="6400440" cy="59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DDB862B-8B9B-4D23-95E6-F2AF691D1AD8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ABF846-0737-4136-A246-2021610A9426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CEAF0D8-5887-4759-A2BF-58CDA994AB0F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C0DCDC0-F9CF-4B99-B48B-7D08B3986B72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C7E16BB-E112-40AC-A129-424083CDEFA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40080" y="2194560"/>
            <a:ext cx="6400440" cy="59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351355E-A9EE-4FB9-A265-EDF0FABB7274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B7F5F24-3255-4F62-93D7-B2A7898F2A82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5162AE3-82FA-45EE-9587-03897CC9AD8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FFD5426-8B72-4D16-8A8F-823CD47836D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6D07FC-8EE6-478A-A603-BA9429767466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96FA970-7D9D-4CD9-BE86-0A0A11A48396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2CA33C9-389C-43F3-846D-04B569F72F9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3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s-ES" sz="60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s-E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s-ES" sz="36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0"/>
          <p:cNvSpPr/>
          <p:nvPr/>
        </p:nvSpPr>
        <p:spPr>
          <a:xfrm>
            <a:off x="54864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2"/>
                </a:solidFill>
                <a:latin typeface="Calibri"/>
              </a:rPr>
              <a:t>CuidaT · TFM Máster en Desarrollo con IA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5B282-7CB8-48E3-BC7A-0E37A280959E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cuidat.onrender.com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cuidat.onrender.com/" TargetMode="External"/><Relationship Id="rId2" Type="http://schemas.openxmlformats.org/officeDocument/2006/relationships/hyperlink" Target="https://cuidat.onrender.com/" TargetMode="Externa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hyperlink" Target="https://github.com/Cristina-F-R/CuidaT_healtControl" TargetMode="External"/><Relationship Id="rId8" Type="http://schemas.openxmlformats.org/officeDocument/2006/relationships/hyperlink" Target="https://github.com/Cristina-F-R/CuidaT_healtControl" TargetMode="External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cuidat.onrender.com/" TargetMode="External"/><Relationship Id="rId2" Type="http://schemas.openxmlformats.org/officeDocument/2006/relationships/hyperlink" Target="https://github.com/Cristina-F-R/CuidaT_healtControl" TargetMode="External"/><Relationship Id="rId3" Type="http://schemas.openxmlformats.org/officeDocument/2006/relationships/hyperlink" Target="https://drive.google.com/file/d/1zNE8S_Nzw4MQMOzUewkzkWqABai-yuIK/view?usp=drive_link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Calibri"/>
              </a:rPr>
              <a:t>CuidaT</a:t>
            </a:r>
            <a:endParaRPr b="0" lang="es-E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40080" y="3611880"/>
            <a:ext cx="5120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</a:rPr>
              <a:t>Calendario de salud que detecta patrones entre síntomas, desencadenantes y medicación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640080" y="4846320"/>
            <a:ext cx="5120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Trabajo Final del Máster en Desarrollo con IA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a8b9c8"/>
                </a:solidFill>
                <a:latin typeface="Calibri"/>
              </a:rPr>
              <a:t>Cristina Faixedas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600" spc="-1" strike="noStrike" u="sng">
                <a:solidFill>
                  <a:srgbClr val="bafff5"/>
                </a:solidFill>
                <a:uFillTx/>
                <a:latin typeface="Calibri"/>
                <a:hlinkClick r:id="rId1"/>
              </a:rPr>
              <a:t>cuidat.onrender.com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Captura del calendario de CuidaT con patrones detectados marco"/>
          <p:cNvSpPr/>
          <p:nvPr/>
        </p:nvSpPr>
        <p:spPr>
          <a:xfrm>
            <a:off x="6126480" y="1463040"/>
            <a:ext cx="5668920" cy="3543120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e5ebf1"/>
            </a:solidFill>
            <a:round/>
          </a:ln>
          <a:effectLst>
            <a:outerShdw algn="bl" blurRad="152280" dir="5400000" dist="38160" kx="0" ky="0" rotWithShape="0" sx="100000" sy="100000">
              <a:srgbClr val="24324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Captura del calendario de CuidaT con patrones detectados" descr="Captura del calendario de CuidaT con patrones detectados"/>
          <p:cNvPicPr/>
          <p:nvPr/>
        </p:nvPicPr>
        <p:blipFill>
          <a:blip r:embed="rId2"/>
          <a:stretch/>
        </p:blipFill>
        <p:spPr>
          <a:xfrm>
            <a:off x="6126480" y="1463040"/>
            <a:ext cx="5668920" cy="354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El problema: ¿qué provoca este síntoma?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48640" y="13258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Quien cuida de una mascota, un niño o de sí mismo ve aparecer vómitos, dolores o picores y no sabe si fue la comida, una medicación o el azar. En la consulta se llega con recuerdos, no con datos.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Objetivo 1"/>
          <p:cNvSpPr/>
          <p:nvPr/>
        </p:nvSpPr>
        <p:spPr>
          <a:xfrm>
            <a:off x="548640" y="2514600"/>
            <a:ext cx="3520080" cy="3382920"/>
          </a:xfrm>
          <a:prstGeom prst="roundRect">
            <a:avLst>
              <a:gd name="adj" fmla="val 4054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Icono objetivo 1 círculo"/>
          <p:cNvSpPr/>
          <p:nvPr/>
        </p:nvSpPr>
        <p:spPr>
          <a:xfrm>
            <a:off x="868680" y="2834640"/>
            <a:ext cx="868320" cy="868320"/>
          </a:xfrm>
          <a:prstGeom prst="ellipse">
            <a:avLst/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cono objetivo 1" descr="Icono objetivo 1"/>
          <p:cNvPicPr/>
          <p:nvPr/>
        </p:nvPicPr>
        <p:blipFill>
          <a:blip r:embed="rId1"/>
          <a:stretch/>
        </p:blipFill>
        <p:spPr>
          <a:xfrm>
            <a:off x="1085760" y="30517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94" name="Text 4"/>
          <p:cNvSpPr/>
          <p:nvPr/>
        </p:nvSpPr>
        <p:spPr>
          <a:xfrm>
            <a:off x="868680" y="393192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Registrar en segundos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868680" y="4434840"/>
            <a:ext cx="28800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Síntomas, desencadenantes y medicación en un calendario visual, con hora, intensidad y notas.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bjetivo 2"/>
          <p:cNvSpPr/>
          <p:nvPr/>
        </p:nvSpPr>
        <p:spPr>
          <a:xfrm>
            <a:off x="4343400" y="2514600"/>
            <a:ext cx="3520080" cy="3382920"/>
          </a:xfrm>
          <a:prstGeom prst="roundRect">
            <a:avLst>
              <a:gd name="adj" fmla="val 4054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Icono objetivo 2 círculo"/>
          <p:cNvSpPr/>
          <p:nvPr/>
        </p:nvSpPr>
        <p:spPr>
          <a:xfrm>
            <a:off x="4663440" y="2834640"/>
            <a:ext cx="868320" cy="868320"/>
          </a:xfrm>
          <a:prstGeom prst="ellipse">
            <a:avLst/>
          </a:prstGeom>
          <a:solidFill>
            <a:srgbClr val="fff3ba"/>
          </a:solidFill>
          <a:ln w="12700">
            <a:solidFill>
              <a:srgbClr val="fff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cono objetivo 2" descr="Icono objetivo 2"/>
          <p:cNvPicPr/>
          <p:nvPr/>
        </p:nvPicPr>
        <p:blipFill>
          <a:blip r:embed="rId2"/>
          <a:stretch/>
        </p:blipFill>
        <p:spPr>
          <a:xfrm>
            <a:off x="4880520" y="30517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99" name="Text 8"/>
          <p:cNvSpPr/>
          <p:nvPr/>
        </p:nvSpPr>
        <p:spPr>
          <a:xfrm>
            <a:off x="4663440" y="393192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Detectar coincidencias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4663440" y="4434840"/>
            <a:ext cx="28800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Reglas fijas y explicables que avisan cuando una pareja desencadenante → síntoma se repite.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Objetivo 3"/>
          <p:cNvSpPr/>
          <p:nvPr/>
        </p:nvSpPr>
        <p:spPr>
          <a:xfrm>
            <a:off x="8138160" y="2514600"/>
            <a:ext cx="3520080" cy="3382920"/>
          </a:xfrm>
          <a:prstGeom prst="roundRect">
            <a:avLst>
              <a:gd name="adj" fmla="val 4054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Icono objetivo 3 círculo"/>
          <p:cNvSpPr/>
          <p:nvPr/>
        </p:nvSpPr>
        <p:spPr>
          <a:xfrm>
            <a:off x="8458200" y="2834640"/>
            <a:ext cx="868320" cy="868320"/>
          </a:xfrm>
          <a:prstGeom prst="ellipse">
            <a:avLst/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Icono objetivo 3" descr="Icono objetivo 3"/>
          <p:cNvPicPr/>
          <p:nvPr/>
        </p:nvPicPr>
        <p:blipFill>
          <a:blip r:embed="rId3"/>
          <a:stretch/>
        </p:blipFill>
        <p:spPr>
          <a:xfrm>
            <a:off x="8675280" y="30517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104" name="Text 12"/>
          <p:cNvSpPr/>
          <p:nvPr/>
        </p:nvSpPr>
        <p:spPr>
          <a:xfrm>
            <a:off x="8458200" y="393192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Llevarlo a la consulta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8458200" y="4434840"/>
            <a:ext cx="28800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Modo consulta de solo lectura e informes en PDF para el médico o el veterinario.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28F412-6722-418A-808D-858B0AA512B1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Un calendario por persona o mascota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Vista principal: dock de ítems, calendario mensual y resumen con patrones marco"/>
          <p:cNvSpPr/>
          <p:nvPr/>
        </p:nvSpPr>
        <p:spPr>
          <a:xfrm>
            <a:off x="548640" y="1371600"/>
            <a:ext cx="731484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bf1"/>
            </a:solidFill>
            <a:round/>
          </a:ln>
          <a:effectLst>
            <a:outerShdw algn="bl" blurRad="152280" dir="5400000" dist="38160" kx="0" ky="0" rotWithShape="0" sx="100000" sy="100000">
              <a:srgbClr val="24324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Vista principal: dock de ítems, calendario mensual y resumen con patrones" descr="Vista principal: dock de ítems, calendario mensual y resumen con patrones"/>
          <p:cNvPicPr/>
          <p:nvPr/>
        </p:nvPicPr>
        <p:blipFill>
          <a:blip r:embed="rId1"/>
          <a:stretch/>
        </p:blipFill>
        <p:spPr>
          <a:xfrm>
            <a:off x="548640" y="1371600"/>
            <a:ext cx="7314840" cy="4571640"/>
          </a:xfrm>
          <a:prstGeom prst="rect">
            <a:avLst/>
          </a:prstGeom>
          <a:ln w="0">
            <a:noFill/>
          </a:ln>
        </p:spPr>
      </p:pic>
      <p:sp>
        <p:nvSpPr>
          <p:cNvPr id="110" name="Text 2"/>
          <p:cNvSpPr/>
          <p:nvPr/>
        </p:nvSpPr>
        <p:spPr>
          <a:xfrm>
            <a:off x="8229600" y="141732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Registro rápido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8229600" y="1783080"/>
            <a:ext cx="342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Pulsa un ítem y un día, o arrástralo. Funciona con ratón, táctil y teclado.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8229600" y="26060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Datos de cada registro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8229600" y="2971800"/>
            <a:ext cx="342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Hora, intensidad (leve, moderada, grave), duración y notas. Nunca en el futuro.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8229600" y="37947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Varios calendarios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8229600" y="4160520"/>
            <a:ext cx="342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Cada uno con su color, avatar y ventana de correlación. Vista de 1, 2 o 3 meses.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8229600" y="49834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Modo invitado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8229600" y="5349240"/>
            <a:ext cx="3428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Se usa sin cuenta; al registrarte puedes migrar los datos con tu consentimiento.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6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B6B80A-F62B-445B-B6D2-1F7F13404EC8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Detección de patrones determinista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48640" y="132588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Para cada síntoma, el motor busca los desencadenantes y medicaciones registrados antes, dentro de la ventana del calendario.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Dato 2–48 h"/>
          <p:cNvSpPr/>
          <p:nvPr/>
        </p:nvSpPr>
        <p:spPr>
          <a:xfrm>
            <a:off x="548640" y="2240280"/>
            <a:ext cx="2605680" cy="2194200"/>
          </a:xfrm>
          <a:prstGeom prst="roundRect">
            <a:avLst>
              <a:gd name="adj" fmla="val 6250"/>
            </a:avLst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822960" y="24688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chemeClr val="dk1"/>
                </a:solidFill>
                <a:latin typeface="Calibri"/>
              </a:rPr>
              <a:t>2–48 h</a:t>
            </a:r>
            <a:endParaRPr b="0" lang="es-E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822960" y="342900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ventana de correlación configurable por calendario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Dato 3–6"/>
          <p:cNvSpPr/>
          <p:nvPr/>
        </p:nvSpPr>
        <p:spPr>
          <a:xfrm>
            <a:off x="3383280" y="2240280"/>
            <a:ext cx="2605680" cy="2194200"/>
          </a:xfrm>
          <a:prstGeom prst="roundRect">
            <a:avLst>
              <a:gd name="adj" fmla="val 6250"/>
            </a:avLst>
          </a:prstGeom>
          <a:solidFill>
            <a:srgbClr val="fff3ba"/>
          </a:solidFill>
          <a:ln w="12700">
            <a:solidFill>
              <a:srgbClr val="fff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3657600" y="24688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chemeClr val="dk1"/>
                </a:solidFill>
                <a:latin typeface="Calibri"/>
              </a:rPr>
              <a:t>3–6</a:t>
            </a:r>
            <a:endParaRPr b="0" lang="es-E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3657600" y="342900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coincidencias: «Vigilar posible patrón»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Dato ≥ 7"/>
          <p:cNvSpPr/>
          <p:nvPr/>
        </p:nvSpPr>
        <p:spPr>
          <a:xfrm>
            <a:off x="6217920" y="2240280"/>
            <a:ext cx="2605680" cy="2194200"/>
          </a:xfrm>
          <a:prstGeom prst="roundRect">
            <a:avLst>
              <a:gd name="adj" fmla="val 6250"/>
            </a:avLst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6492240" y="24688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chemeClr val="dk1"/>
                </a:solidFill>
                <a:latin typeface="Calibri"/>
              </a:rPr>
              <a:t>≥ </a:t>
            </a:r>
            <a:r>
              <a:rPr b="1" lang="en-US" sz="4800" spc="-1" strike="noStrike">
                <a:solidFill>
                  <a:schemeClr val="dk1"/>
                </a:solidFill>
                <a:latin typeface="Calibri"/>
              </a:rPr>
              <a:t>7</a:t>
            </a:r>
            <a:endParaRPr b="0" lang="es-E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6492240" y="342900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coincidencias: «Patrón detectado»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Dato 100 %"/>
          <p:cNvSpPr/>
          <p:nvPr/>
        </p:nvSpPr>
        <p:spPr>
          <a:xfrm>
            <a:off x="9052560" y="2240280"/>
            <a:ext cx="2605680" cy="2194200"/>
          </a:xfrm>
          <a:prstGeom prst="roundRect">
            <a:avLst>
              <a:gd name="adj" fmla="val 6250"/>
            </a:avLst>
          </a:prstGeom>
          <a:solidFill>
            <a:srgbClr val="bafff5"/>
          </a:solidFill>
          <a:ln w="12700">
            <a:solidFill>
              <a:srgbClr val="baf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9326880" y="24688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chemeClr val="dk1"/>
                </a:solidFill>
                <a:latin typeface="Calibri"/>
              </a:rPr>
              <a:t>100 %</a:t>
            </a:r>
            <a:endParaRPr b="0" lang="es-E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9326880" y="342900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de cobertura de tests en el motor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Icono Sin IA en tiempo de ejecución círculo"/>
          <p:cNvSpPr/>
          <p:nvPr/>
        </p:nvSpPr>
        <p:spPr>
          <a:xfrm>
            <a:off x="548640" y="4800600"/>
            <a:ext cx="639720" cy="63972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cono Sin IA en tiempo de ejecución" descr="Icono Sin IA en tiempo de ejecución"/>
          <p:cNvPicPr/>
          <p:nvPr/>
        </p:nvPicPr>
        <p:blipFill>
          <a:blip r:embed="rId1"/>
          <a:stretch/>
        </p:blipFill>
        <p:spPr>
          <a:xfrm>
            <a:off x="708840" y="4960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35" name="Text 15"/>
          <p:cNvSpPr/>
          <p:nvPr/>
        </p:nvSpPr>
        <p:spPr>
          <a:xfrm>
            <a:off x="1371600" y="4754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Sin IA en tiempo de ejecución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1371600" y="512064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Mismos datos, mismo resultado. Se puede explicar a un profesional sanitario.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Icono Agrupa por linaje círculo"/>
          <p:cNvSpPr/>
          <p:nvPr/>
        </p:nvSpPr>
        <p:spPr>
          <a:xfrm>
            <a:off x="4343400" y="4800600"/>
            <a:ext cx="639720" cy="63972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Icono Agrupa por linaje" descr="Icono Agrupa por linaje"/>
          <p:cNvPicPr/>
          <p:nvPr/>
        </p:nvPicPr>
        <p:blipFill>
          <a:blip r:embed="rId2"/>
          <a:stretch/>
        </p:blipFill>
        <p:spPr>
          <a:xfrm>
            <a:off x="4503600" y="4960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39" name="Text 18"/>
          <p:cNvSpPr/>
          <p:nvPr/>
        </p:nvSpPr>
        <p:spPr>
          <a:xfrm>
            <a:off x="5166360" y="4754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Agrupa por linaje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5166360" y="512064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Si editas un ítem se crea una versión nueva, pero sigue contando como el mismo.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Icono Coincidencia ≠ causa círculo"/>
          <p:cNvSpPr/>
          <p:nvPr/>
        </p:nvSpPr>
        <p:spPr>
          <a:xfrm>
            <a:off x="8138160" y="4800600"/>
            <a:ext cx="639720" cy="63972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cono Coincidencia ≠ causa" descr="Icono Coincidencia ≠ causa"/>
          <p:cNvPicPr/>
          <p:nvPr/>
        </p:nvPicPr>
        <p:blipFill>
          <a:blip r:embed="rId3"/>
          <a:stretch/>
        </p:blipFill>
        <p:spPr>
          <a:xfrm>
            <a:off x="8298360" y="4960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43" name="Text 21"/>
          <p:cNvSpPr/>
          <p:nvPr/>
        </p:nvSpPr>
        <p:spPr>
          <a:xfrm>
            <a:off x="8961120" y="4754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Coincidencia ≠ causa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8961120" y="512064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La app lo recuerda siempre junto a cada resultado.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7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38FEF1-B623-46EB-A62C-264266799176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Modo consulta para la visita médica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1463040"/>
            <a:ext cx="35658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Un interruptor oculta todo lo que permite editar o borrar y amplía el calendario.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Marca los días del desencadenante de cada patrón: la posible causa.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Amarillo para «vigilar» y melocotón para «detectado», siempre con icono y texto: el color nunca es la única señal.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Modo consulta con los días de los desencadenantes marcados marco"/>
          <p:cNvSpPr/>
          <p:nvPr/>
        </p:nvSpPr>
        <p:spPr>
          <a:xfrm>
            <a:off x="4434840" y="1371600"/>
            <a:ext cx="7223400" cy="4514400"/>
          </a:xfrm>
          <a:prstGeom prst="roundRect">
            <a:avLst>
              <a:gd name="adj" fmla="val 1620"/>
            </a:avLst>
          </a:prstGeom>
          <a:solidFill>
            <a:srgbClr val="ffffff"/>
          </a:solidFill>
          <a:ln w="12700">
            <a:solidFill>
              <a:srgbClr val="e5ebf1"/>
            </a:solidFill>
            <a:round/>
          </a:ln>
          <a:effectLst>
            <a:outerShdw algn="bl" blurRad="152280" dir="5400000" dist="38160" kx="0" ky="0" rotWithShape="0" sx="100000" sy="100000">
              <a:srgbClr val="24324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Modo consulta con los días de los desencadenantes marcados" descr="Modo consulta con los días de los desencadenantes marcados"/>
          <p:cNvPicPr/>
          <p:nvPr/>
        </p:nvPicPr>
        <p:blipFill>
          <a:blip r:embed="rId1"/>
          <a:stretch/>
        </p:blipFill>
        <p:spPr>
          <a:xfrm>
            <a:off x="4434840" y="1371600"/>
            <a:ext cx="7223400" cy="4514400"/>
          </a:xfrm>
          <a:prstGeom prst="rect">
            <a:avLst/>
          </a:prstGeom>
          <a:ln w="0">
            <a:noFill/>
          </a:ln>
        </p:spPr>
      </p:pic>
      <p:sp>
        <p:nvSpPr>
          <p:cNvPr id="150" name="PlaceHolder 2"/>
          <p:cNvSpPr>
            <a:spLocks noGrp="1"/>
          </p:cNvSpPr>
          <p:nvPr>
            <p:ph type="sldNum" idx="8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A2DBF7-E2F5-489E-B89B-946204233418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Resúmenes e informes en PDF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" name="Diálogo de resúmenes y correlaciones con filtros y guardado de informe marco"/>
          <p:cNvSpPr/>
          <p:nvPr/>
        </p:nvSpPr>
        <p:spPr>
          <a:xfrm>
            <a:off x="548640" y="1371600"/>
            <a:ext cx="7223400" cy="4514400"/>
          </a:xfrm>
          <a:prstGeom prst="roundRect">
            <a:avLst>
              <a:gd name="adj" fmla="val 1620"/>
            </a:avLst>
          </a:prstGeom>
          <a:solidFill>
            <a:srgbClr val="ffffff"/>
          </a:solidFill>
          <a:ln w="12700">
            <a:solidFill>
              <a:srgbClr val="e5ebf1"/>
            </a:solidFill>
            <a:round/>
          </a:ln>
          <a:effectLst>
            <a:outerShdw algn="bl" blurRad="152280" dir="5400000" dist="38160" kx="0" ky="0" rotWithShape="0" sx="100000" sy="100000">
              <a:srgbClr val="24324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Diálogo de resúmenes y correlaciones con filtros y guardado de informe" descr="Diálogo de resúmenes y correlaciones con filtros y guardado de informe"/>
          <p:cNvPicPr/>
          <p:nvPr/>
        </p:nvPicPr>
        <p:blipFill>
          <a:blip r:embed="rId1"/>
          <a:stretch/>
        </p:blipFill>
        <p:spPr>
          <a:xfrm>
            <a:off x="548640" y="1371600"/>
            <a:ext cx="7223400" cy="4514400"/>
          </a:xfrm>
          <a:prstGeom prst="rect">
            <a:avLst/>
          </a:prstGeom>
          <a:ln w="0">
            <a:noFill/>
          </a:ln>
        </p:spPr>
      </p:pic>
      <p:sp>
        <p:nvSpPr>
          <p:cNvPr id="154" name="Icono Periodo y filtros círculo"/>
          <p:cNvSpPr/>
          <p:nvPr/>
        </p:nvSpPr>
        <p:spPr>
          <a:xfrm>
            <a:off x="8138160" y="1463040"/>
            <a:ext cx="639720" cy="63972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cono Periodo y filtros" descr="Icono Periodo y filtros"/>
          <p:cNvPicPr/>
          <p:nvPr/>
        </p:nvPicPr>
        <p:blipFill>
          <a:blip r:embed="rId2"/>
          <a:stretch/>
        </p:blipFill>
        <p:spPr>
          <a:xfrm>
            <a:off x="8298360" y="16232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56" name="Text 3"/>
          <p:cNvSpPr/>
          <p:nvPr/>
        </p:nvSpPr>
        <p:spPr>
          <a:xfrm>
            <a:off x="8961120" y="141732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Periodo y filtros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8961120" y="181044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Hasta 12 meses; eliges qué síntomas y desencadenantes entran en el análisis.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Icono Instantánea círculo"/>
          <p:cNvSpPr/>
          <p:nvPr/>
        </p:nvSpPr>
        <p:spPr>
          <a:xfrm>
            <a:off x="8138160" y="2971800"/>
            <a:ext cx="639720" cy="63972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Icono Instantánea" descr="Icono Instantánea"/>
          <p:cNvPicPr/>
          <p:nvPr/>
        </p:nvPicPr>
        <p:blipFill>
          <a:blip r:embed="rId3"/>
          <a:stretch/>
        </p:blipFill>
        <p:spPr>
          <a:xfrm>
            <a:off x="8298360" y="31320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60" name="Text 6"/>
          <p:cNvSpPr/>
          <p:nvPr/>
        </p:nvSpPr>
        <p:spPr>
          <a:xfrm>
            <a:off x="8961120" y="292608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Instantánea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8961120" y="331920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El servidor calcula el informe con el mismo motor y no cambia aunque edites registros.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Icono PDF en el navegador círculo"/>
          <p:cNvSpPr/>
          <p:nvPr/>
        </p:nvSpPr>
        <p:spPr>
          <a:xfrm>
            <a:off x="8138160" y="4480560"/>
            <a:ext cx="639720" cy="63972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Icono PDF en el navegador" descr="Icono PDF en el navegador"/>
          <p:cNvPicPr/>
          <p:nvPr/>
        </p:nvPicPr>
        <p:blipFill>
          <a:blip r:embed="rId4"/>
          <a:stretch/>
        </p:blipFill>
        <p:spPr>
          <a:xfrm>
            <a:off x="8298360" y="464076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64" name="Text 9"/>
          <p:cNvSpPr/>
          <p:nvPr/>
        </p:nvSpPr>
        <p:spPr>
          <a:xfrm>
            <a:off x="8961120" y="443484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PDF en el navegador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8961120" y="482796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Hasta 5 informes guardados. El PDF se genera en local: los datos no salen a terceros.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9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4E5655-E69A-4128-AA73-F2AA119F4835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Funcionalidades principales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Funcionalidad Calendarios"/>
          <p:cNvSpPr/>
          <p:nvPr/>
        </p:nvSpPr>
        <p:spPr>
          <a:xfrm>
            <a:off x="548640" y="141732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Icono Calendarios círculo"/>
          <p:cNvSpPr/>
          <p:nvPr/>
        </p:nvSpPr>
        <p:spPr>
          <a:xfrm>
            <a:off x="822960" y="1691640"/>
            <a:ext cx="685440" cy="685440"/>
          </a:xfrm>
          <a:prstGeom prst="ellipse">
            <a:avLst/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cono Calendarios" descr="Icono Calendarios"/>
          <p:cNvPicPr/>
          <p:nvPr/>
        </p:nvPicPr>
        <p:blipFill>
          <a:blip r:embed="rId1"/>
          <a:stretch/>
        </p:blipFill>
        <p:spPr>
          <a:xfrm>
            <a:off x="994320" y="186300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71" name="Text 3"/>
          <p:cNvSpPr/>
          <p:nvPr/>
        </p:nvSpPr>
        <p:spPr>
          <a:xfrm>
            <a:off x="822960" y="2514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Calendarios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822960" y="288036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Por persona o mascota, con color y ventana propia.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Funcionalidad Registro rápido"/>
          <p:cNvSpPr/>
          <p:nvPr/>
        </p:nvSpPr>
        <p:spPr>
          <a:xfrm>
            <a:off x="3383280" y="141732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Icono Registro rápido círculo"/>
          <p:cNvSpPr/>
          <p:nvPr/>
        </p:nvSpPr>
        <p:spPr>
          <a:xfrm>
            <a:off x="3657600" y="1691640"/>
            <a:ext cx="685440" cy="685440"/>
          </a:xfrm>
          <a:prstGeom prst="ellipse">
            <a:avLst/>
          </a:prstGeom>
          <a:solidFill>
            <a:srgbClr val="fff3ba"/>
          </a:solidFill>
          <a:ln w="12700">
            <a:solidFill>
              <a:srgbClr val="fff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Icono Registro rápido" descr="Icono Registro rápido"/>
          <p:cNvPicPr/>
          <p:nvPr/>
        </p:nvPicPr>
        <p:blipFill>
          <a:blip r:embed="rId2"/>
          <a:stretch/>
        </p:blipFill>
        <p:spPr>
          <a:xfrm>
            <a:off x="3828960" y="186300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76" name="Text 7"/>
          <p:cNvSpPr/>
          <p:nvPr/>
        </p:nvSpPr>
        <p:spPr>
          <a:xfrm>
            <a:off x="3657600" y="2514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Registro rápido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3657600" y="288036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Arrastrar o pulsar; intensidad, duración y notas.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Funcionalidad Patrones"/>
          <p:cNvSpPr/>
          <p:nvPr/>
        </p:nvSpPr>
        <p:spPr>
          <a:xfrm>
            <a:off x="6217920" y="141732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Icono Patrones círculo"/>
          <p:cNvSpPr/>
          <p:nvPr/>
        </p:nvSpPr>
        <p:spPr>
          <a:xfrm>
            <a:off x="6492240" y="1691640"/>
            <a:ext cx="685440" cy="685440"/>
          </a:xfrm>
          <a:prstGeom prst="ellipse">
            <a:avLst/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Icono Patrones" descr="Icono Patrones"/>
          <p:cNvPicPr/>
          <p:nvPr/>
        </p:nvPicPr>
        <p:blipFill>
          <a:blip r:embed="rId3"/>
          <a:stretch/>
        </p:blipFill>
        <p:spPr>
          <a:xfrm>
            <a:off x="6663600" y="186300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81" name="Text 11"/>
          <p:cNvSpPr/>
          <p:nvPr/>
        </p:nvSpPr>
        <p:spPr>
          <a:xfrm>
            <a:off x="6492240" y="2514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Patrones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6492240" y="288036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Reglas deterministas y explicables.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Funcionalidad Informes"/>
          <p:cNvSpPr/>
          <p:nvPr/>
        </p:nvSpPr>
        <p:spPr>
          <a:xfrm>
            <a:off x="9052560" y="141732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Icono Informes círculo"/>
          <p:cNvSpPr/>
          <p:nvPr/>
        </p:nvSpPr>
        <p:spPr>
          <a:xfrm>
            <a:off x="9326880" y="1691640"/>
            <a:ext cx="685440" cy="685440"/>
          </a:xfrm>
          <a:prstGeom prst="ellipse">
            <a:avLst/>
          </a:prstGeom>
          <a:solidFill>
            <a:srgbClr val="bafff5"/>
          </a:solidFill>
          <a:ln w="12700">
            <a:solidFill>
              <a:srgbClr val="baf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Icono Informes" descr="Icono Informes"/>
          <p:cNvPicPr/>
          <p:nvPr/>
        </p:nvPicPr>
        <p:blipFill>
          <a:blip r:embed="rId4"/>
          <a:stretch/>
        </p:blipFill>
        <p:spPr>
          <a:xfrm>
            <a:off x="9498240" y="186300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86" name="Text 15"/>
          <p:cNvSpPr/>
          <p:nvPr/>
        </p:nvSpPr>
        <p:spPr>
          <a:xfrm>
            <a:off x="9326880" y="2514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Informes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9326880" y="288036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Hasta 5 guardados, en pantalla o PDF.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Funcionalidad Modo consulta"/>
          <p:cNvSpPr/>
          <p:nvPr/>
        </p:nvSpPr>
        <p:spPr>
          <a:xfrm>
            <a:off x="548640" y="388620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Icono Modo consulta círculo"/>
          <p:cNvSpPr/>
          <p:nvPr/>
        </p:nvSpPr>
        <p:spPr>
          <a:xfrm>
            <a:off x="822960" y="4160520"/>
            <a:ext cx="685440" cy="685440"/>
          </a:xfrm>
          <a:prstGeom prst="ellipse">
            <a:avLst/>
          </a:prstGeom>
          <a:solidFill>
            <a:srgbClr val="fff3ba"/>
          </a:solidFill>
          <a:ln w="12700">
            <a:solidFill>
              <a:srgbClr val="fff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cono Modo consulta" descr="Icono Modo consulta"/>
          <p:cNvPicPr/>
          <p:nvPr/>
        </p:nvPicPr>
        <p:blipFill>
          <a:blip r:embed="rId5"/>
          <a:stretch/>
        </p:blipFill>
        <p:spPr>
          <a:xfrm>
            <a:off x="994320" y="43318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91" name="Text 19"/>
          <p:cNvSpPr/>
          <p:nvPr/>
        </p:nvSpPr>
        <p:spPr>
          <a:xfrm>
            <a:off x="822960" y="4983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Modo consulta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0"/>
          <p:cNvSpPr/>
          <p:nvPr/>
        </p:nvSpPr>
        <p:spPr>
          <a:xfrm>
            <a:off x="822960" y="534924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Vista de solo lectura para la visita.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Funcionalidad Modo invitado"/>
          <p:cNvSpPr/>
          <p:nvPr/>
        </p:nvSpPr>
        <p:spPr>
          <a:xfrm>
            <a:off x="3383280" y="388620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Icono Modo invitado círculo"/>
          <p:cNvSpPr/>
          <p:nvPr/>
        </p:nvSpPr>
        <p:spPr>
          <a:xfrm>
            <a:off x="3657600" y="4160520"/>
            <a:ext cx="685440" cy="685440"/>
          </a:xfrm>
          <a:prstGeom prst="ellipse">
            <a:avLst/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cono Modo invitado" descr="Icono Modo invitado"/>
          <p:cNvPicPr/>
          <p:nvPr/>
        </p:nvPicPr>
        <p:blipFill>
          <a:blip r:embed="rId6"/>
          <a:stretch/>
        </p:blipFill>
        <p:spPr>
          <a:xfrm>
            <a:off x="3828960" y="43318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96" name="Text 23"/>
          <p:cNvSpPr/>
          <p:nvPr/>
        </p:nvSpPr>
        <p:spPr>
          <a:xfrm>
            <a:off x="3657600" y="4983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Modo invitado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3657600" y="534924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Sin registro, con migración posterior.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Funcionalidad Sin conexión"/>
          <p:cNvSpPr/>
          <p:nvPr/>
        </p:nvSpPr>
        <p:spPr>
          <a:xfrm>
            <a:off x="6217920" y="388620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Icono Sin conexión círculo"/>
          <p:cNvSpPr/>
          <p:nvPr/>
        </p:nvSpPr>
        <p:spPr>
          <a:xfrm>
            <a:off x="6492240" y="4160520"/>
            <a:ext cx="685440" cy="685440"/>
          </a:xfrm>
          <a:prstGeom prst="ellipse">
            <a:avLst/>
          </a:prstGeom>
          <a:solidFill>
            <a:srgbClr val="bafff5"/>
          </a:solidFill>
          <a:ln w="12700">
            <a:solidFill>
              <a:srgbClr val="baf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Icono Sin conexión" descr="Icono Sin conexión"/>
          <p:cNvPicPr/>
          <p:nvPr/>
        </p:nvPicPr>
        <p:blipFill>
          <a:blip r:embed="rId7"/>
          <a:stretch/>
        </p:blipFill>
        <p:spPr>
          <a:xfrm>
            <a:off x="6663600" y="43318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01" name="Text 27"/>
          <p:cNvSpPr/>
          <p:nvPr/>
        </p:nvSpPr>
        <p:spPr>
          <a:xfrm>
            <a:off x="6492240" y="4983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Sin conexión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8"/>
          <p:cNvSpPr/>
          <p:nvPr/>
        </p:nvSpPr>
        <p:spPr>
          <a:xfrm>
            <a:off x="6492240" y="534924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PWA con cola local que se sincroniza sola.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Funcionalidad Accesible"/>
          <p:cNvSpPr/>
          <p:nvPr/>
        </p:nvSpPr>
        <p:spPr>
          <a:xfrm>
            <a:off x="9052560" y="3886200"/>
            <a:ext cx="2605680" cy="2239920"/>
          </a:xfrm>
          <a:prstGeom prst="roundRect">
            <a:avLst>
              <a:gd name="adj" fmla="val 6122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Icono Accesible círculo"/>
          <p:cNvSpPr/>
          <p:nvPr/>
        </p:nvSpPr>
        <p:spPr>
          <a:xfrm>
            <a:off x="9326880" y="4160520"/>
            <a:ext cx="685440" cy="685440"/>
          </a:xfrm>
          <a:prstGeom prst="ellipse">
            <a:avLst/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cono Accesible" descr="Icono Accesible"/>
          <p:cNvPicPr/>
          <p:nvPr/>
        </p:nvPicPr>
        <p:blipFill>
          <a:blip r:embed="rId8"/>
          <a:stretch/>
        </p:blipFill>
        <p:spPr>
          <a:xfrm>
            <a:off x="9498240" y="43318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06" name="Text 31"/>
          <p:cNvSpPr/>
          <p:nvPr/>
        </p:nvSpPr>
        <p:spPr>
          <a:xfrm>
            <a:off x="9326880" y="4983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Accesible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2"/>
          <p:cNvSpPr/>
          <p:nvPr/>
        </p:nvSpPr>
        <p:spPr>
          <a:xfrm>
            <a:off x="9326880" y="534924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Teclado, ARIA y contraste WCAG AA.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8FC312-E103-4FDF-950C-2CF0322AED25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Arquitectura: monorepo con arquitectura limpia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Paquete client"/>
          <p:cNvSpPr/>
          <p:nvPr/>
        </p:nvSpPr>
        <p:spPr>
          <a:xfrm>
            <a:off x="548640" y="1417320"/>
            <a:ext cx="3291480" cy="1691280"/>
          </a:xfrm>
          <a:prstGeom prst="roundRect">
            <a:avLst>
              <a:gd name="adj" fmla="val 8108"/>
            </a:avLst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777240" y="160020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client/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777240" y="205740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Vue 3 + Pinia. Capas application, infrastructure y presentation. PWA con cola sin conexión.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aquete shared"/>
          <p:cNvSpPr/>
          <p:nvPr/>
        </p:nvSpPr>
        <p:spPr>
          <a:xfrm>
            <a:off x="4434840" y="1417320"/>
            <a:ext cx="3291480" cy="1691280"/>
          </a:xfrm>
          <a:prstGeom prst="roundRect">
            <a:avLst>
              <a:gd name="adj" fmla="val 8108"/>
            </a:avLst>
          </a:prstGeom>
          <a:solidFill>
            <a:srgbClr val="bafff5"/>
          </a:solidFill>
          <a:ln w="12700">
            <a:solidFill>
              <a:srgbClr val="baf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4663440" y="160020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shared/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4663440" y="205740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Núcleo de dominio: tipos, esquemas Zod, motor de correlaciones e informes. Las reglas, una sola vez.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aquete server"/>
          <p:cNvSpPr/>
          <p:nvPr/>
        </p:nvSpPr>
        <p:spPr>
          <a:xfrm>
            <a:off x="8321040" y="1417320"/>
            <a:ext cx="3291480" cy="1691280"/>
          </a:xfrm>
          <a:prstGeom prst="roundRect">
            <a:avLst>
              <a:gd name="adj" fmla="val 8108"/>
            </a:avLst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8549640" y="160020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server/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8549640" y="205740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Express 5 + PostgreSQL. Capas domain, application, infrastructure e interfaces/http.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lient usa shared"/>
          <p:cNvSpPr/>
          <p:nvPr/>
        </p:nvSpPr>
        <p:spPr>
          <a:xfrm>
            <a:off x="3886200" y="2258280"/>
            <a:ext cx="502920" cy="360"/>
          </a:xfrm>
          <a:prstGeom prst="line">
            <a:avLst/>
          </a:prstGeom>
          <a:ln w="25400">
            <a:solidFill>
              <a:srgbClr val="49658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erver usa shared"/>
          <p:cNvSpPr/>
          <p:nvPr/>
        </p:nvSpPr>
        <p:spPr>
          <a:xfrm>
            <a:off x="7772400" y="2258280"/>
            <a:ext cx="502920" cy="360"/>
          </a:xfrm>
          <a:prstGeom prst="line">
            <a:avLst/>
          </a:prstGeom>
          <a:ln w="2540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548640" y="37033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Flujo de datos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548640" y="420624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2"/>
                </a:solidFill>
                <a:latin typeface="Calibri"/>
              </a:rPr>
              <a:t>Invitado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Invitado paso 1"/>
          <p:cNvSpPr/>
          <p:nvPr/>
        </p:nvSpPr>
        <p:spPr>
          <a:xfrm>
            <a:off x="1828800" y="4206240"/>
            <a:ext cx="1462680" cy="63972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1920240" y="4206240"/>
            <a:ext cx="127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Navegador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Invitado flecha 1"/>
          <p:cNvSpPr/>
          <p:nvPr/>
        </p:nvSpPr>
        <p:spPr>
          <a:xfrm>
            <a:off x="3337560" y="4526280"/>
            <a:ext cx="274320" cy="360"/>
          </a:xfrm>
          <a:prstGeom prst="line">
            <a:avLst/>
          </a:prstGeom>
          <a:ln w="1905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Invitado paso 2"/>
          <p:cNvSpPr/>
          <p:nvPr/>
        </p:nvSpPr>
        <p:spPr>
          <a:xfrm>
            <a:off x="3657600" y="4206240"/>
            <a:ext cx="2285640" cy="63972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8"/>
          <p:cNvSpPr/>
          <p:nvPr/>
        </p:nvSpPr>
        <p:spPr>
          <a:xfrm>
            <a:off x="3749040" y="420624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localStorage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9"/>
          <p:cNvSpPr/>
          <p:nvPr/>
        </p:nvSpPr>
        <p:spPr>
          <a:xfrm>
            <a:off x="548640" y="512064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2"/>
                </a:solidFill>
                <a:latin typeface="Calibri"/>
              </a:rPr>
              <a:t>Registrado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gistrado paso 1"/>
          <p:cNvSpPr/>
          <p:nvPr/>
        </p:nvSpPr>
        <p:spPr>
          <a:xfrm>
            <a:off x="1828800" y="5120640"/>
            <a:ext cx="1462680" cy="63972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1"/>
          <p:cNvSpPr/>
          <p:nvPr/>
        </p:nvSpPr>
        <p:spPr>
          <a:xfrm>
            <a:off x="1920240" y="5120640"/>
            <a:ext cx="127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Navegador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gistrado flecha 1"/>
          <p:cNvSpPr/>
          <p:nvPr/>
        </p:nvSpPr>
        <p:spPr>
          <a:xfrm>
            <a:off x="3337560" y="5440680"/>
            <a:ext cx="274320" cy="360"/>
          </a:xfrm>
          <a:prstGeom prst="line">
            <a:avLst/>
          </a:prstGeom>
          <a:ln w="1905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gistrado paso 2"/>
          <p:cNvSpPr/>
          <p:nvPr/>
        </p:nvSpPr>
        <p:spPr>
          <a:xfrm>
            <a:off x="3657600" y="5120640"/>
            <a:ext cx="2285640" cy="63972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4"/>
          <p:cNvSpPr/>
          <p:nvPr/>
        </p:nvSpPr>
        <p:spPr>
          <a:xfrm>
            <a:off x="3749040" y="512064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Cola offline (IndexedDB)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gistrado flecha 2"/>
          <p:cNvSpPr/>
          <p:nvPr/>
        </p:nvSpPr>
        <p:spPr>
          <a:xfrm>
            <a:off x="5989320" y="5440680"/>
            <a:ext cx="274320" cy="360"/>
          </a:xfrm>
          <a:prstGeom prst="line">
            <a:avLst/>
          </a:prstGeom>
          <a:ln w="1905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gistrado paso 3"/>
          <p:cNvSpPr/>
          <p:nvPr/>
        </p:nvSpPr>
        <p:spPr>
          <a:xfrm>
            <a:off x="6309360" y="5120640"/>
            <a:ext cx="2742840" cy="63972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7"/>
          <p:cNvSpPr/>
          <p:nvPr/>
        </p:nvSpPr>
        <p:spPr>
          <a:xfrm>
            <a:off x="6400800" y="512064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API Express: Zod + filtro por usuario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egistrado flecha 3"/>
          <p:cNvSpPr/>
          <p:nvPr/>
        </p:nvSpPr>
        <p:spPr>
          <a:xfrm>
            <a:off x="9098280" y="5440680"/>
            <a:ext cx="274320" cy="360"/>
          </a:xfrm>
          <a:prstGeom prst="line">
            <a:avLst/>
          </a:prstGeom>
          <a:ln w="1905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gistrado paso 4"/>
          <p:cNvSpPr/>
          <p:nvPr/>
        </p:nvSpPr>
        <p:spPr>
          <a:xfrm>
            <a:off x="9418320" y="5120640"/>
            <a:ext cx="2194200" cy="63972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30"/>
          <p:cNvSpPr/>
          <p:nvPr/>
        </p:nvSpPr>
        <p:spPr>
          <a:xfrm>
            <a:off x="9509760" y="512064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PostgreSQL (Neon UE)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D0E17-4450-4A17-A5EE-548DDAA47025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Stack tecnológico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Stack Cliente"/>
          <p:cNvSpPr/>
          <p:nvPr/>
        </p:nvSpPr>
        <p:spPr>
          <a:xfrm>
            <a:off x="548640" y="1417320"/>
            <a:ext cx="2605680" cy="4663080"/>
          </a:xfrm>
          <a:prstGeom prst="roundRect">
            <a:avLst>
              <a:gd name="adj" fmla="val 5263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Icono Cliente círculo"/>
          <p:cNvSpPr/>
          <p:nvPr/>
        </p:nvSpPr>
        <p:spPr>
          <a:xfrm>
            <a:off x="822960" y="1691640"/>
            <a:ext cx="731160" cy="731160"/>
          </a:xfrm>
          <a:prstGeom prst="ellipse">
            <a:avLst/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Icono Cliente" descr="Icono Cliente"/>
          <p:cNvPicPr/>
          <p:nvPr/>
        </p:nvPicPr>
        <p:blipFill>
          <a:blip r:embed="rId1"/>
          <a:stretch/>
        </p:blipFill>
        <p:spPr>
          <a:xfrm>
            <a:off x="1005840" y="18745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45" name="Text 3"/>
          <p:cNvSpPr/>
          <p:nvPr/>
        </p:nvSpPr>
        <p:spPr>
          <a:xfrm>
            <a:off x="82296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Cliente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822960" y="3108960"/>
            <a:ext cx="21942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Vue 3 + TypeScript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Vite y vite-plugin-pwa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Pinia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Tailwind CSS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dayjs, DOMPurify, localforage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tack Servidor"/>
          <p:cNvSpPr/>
          <p:nvPr/>
        </p:nvSpPr>
        <p:spPr>
          <a:xfrm>
            <a:off x="3383280" y="1417320"/>
            <a:ext cx="2605680" cy="4663080"/>
          </a:xfrm>
          <a:prstGeom prst="roundRect">
            <a:avLst>
              <a:gd name="adj" fmla="val 5263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Icono Servidor círculo"/>
          <p:cNvSpPr/>
          <p:nvPr/>
        </p:nvSpPr>
        <p:spPr>
          <a:xfrm>
            <a:off x="3657600" y="1691640"/>
            <a:ext cx="731160" cy="731160"/>
          </a:xfrm>
          <a:prstGeom prst="ellipse">
            <a:avLst/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Icono Servidor" descr="Icono Servidor"/>
          <p:cNvPicPr/>
          <p:nvPr/>
        </p:nvPicPr>
        <p:blipFill>
          <a:blip r:embed="rId2"/>
          <a:stretch/>
        </p:blipFill>
        <p:spPr>
          <a:xfrm>
            <a:off x="3840480" y="18745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50" name="Text 7"/>
          <p:cNvSpPr/>
          <p:nvPr/>
        </p:nvSpPr>
        <p:spPr>
          <a:xfrm>
            <a:off x="365760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Servidor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3657600" y="3108960"/>
            <a:ext cx="21942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Node.js 22 + Express 5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Zod (validación)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pg (PostgreSQL)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bcrypt y JWT en cookie httpOnly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Helmet, CORS, rate limit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tack Datos y despliegue"/>
          <p:cNvSpPr/>
          <p:nvPr/>
        </p:nvSpPr>
        <p:spPr>
          <a:xfrm>
            <a:off x="6217920" y="1417320"/>
            <a:ext cx="2605680" cy="4663080"/>
          </a:xfrm>
          <a:prstGeom prst="roundRect">
            <a:avLst>
              <a:gd name="adj" fmla="val 5263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Icono Datos y despliegue círculo"/>
          <p:cNvSpPr/>
          <p:nvPr/>
        </p:nvSpPr>
        <p:spPr>
          <a:xfrm>
            <a:off x="6492240" y="1691640"/>
            <a:ext cx="731160" cy="731160"/>
          </a:xfrm>
          <a:prstGeom prst="ellipse">
            <a:avLst/>
          </a:prstGeom>
          <a:solidFill>
            <a:srgbClr val="bafff5"/>
          </a:solidFill>
          <a:ln w="12700">
            <a:solidFill>
              <a:srgbClr val="baf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Icono Datos y despliegue" descr="Icono Datos y despliegue"/>
          <p:cNvPicPr/>
          <p:nvPr/>
        </p:nvPicPr>
        <p:blipFill>
          <a:blip r:embed="rId3"/>
          <a:stretch/>
        </p:blipFill>
        <p:spPr>
          <a:xfrm>
            <a:off x="6675120" y="18745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55" name="Text 11"/>
          <p:cNvSpPr/>
          <p:nvPr/>
        </p:nvSpPr>
        <p:spPr>
          <a:xfrm>
            <a:off x="649224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Datos y despliegue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2"/>
          <p:cNvSpPr/>
          <p:nvPr/>
        </p:nvSpPr>
        <p:spPr>
          <a:xfrm>
            <a:off x="6492240" y="3108960"/>
            <a:ext cx="21942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PostgreSQL en Neon (UE)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Migraciones SQL versionadas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Docker (una sola imagen)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Render (Frankfurt)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Sentry sin datos de salud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tack Calidad"/>
          <p:cNvSpPr/>
          <p:nvPr/>
        </p:nvSpPr>
        <p:spPr>
          <a:xfrm>
            <a:off x="9052560" y="1417320"/>
            <a:ext cx="2605680" cy="4663080"/>
          </a:xfrm>
          <a:prstGeom prst="roundRect">
            <a:avLst>
              <a:gd name="adj" fmla="val 5263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Icono Calidad círculo"/>
          <p:cNvSpPr/>
          <p:nvPr/>
        </p:nvSpPr>
        <p:spPr>
          <a:xfrm>
            <a:off x="9326880" y="1691640"/>
            <a:ext cx="731160" cy="731160"/>
          </a:xfrm>
          <a:prstGeom prst="ellipse">
            <a:avLst/>
          </a:prstGeom>
          <a:solidFill>
            <a:srgbClr val="fff3ba"/>
          </a:solidFill>
          <a:ln w="12700">
            <a:solidFill>
              <a:srgbClr val="fff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Icono Calidad" descr="Icono Calidad"/>
          <p:cNvPicPr/>
          <p:nvPr/>
        </p:nvPicPr>
        <p:blipFill>
          <a:blip r:embed="rId4"/>
          <a:stretch/>
        </p:blipFill>
        <p:spPr>
          <a:xfrm>
            <a:off x="9509760" y="18745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60" name="Text 15"/>
          <p:cNvSpPr/>
          <p:nvPr/>
        </p:nvSpPr>
        <p:spPr>
          <a:xfrm>
            <a:off x="932688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Calidad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9326880" y="3108960"/>
            <a:ext cx="21942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Vitest + PGlite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Playwright (E2E)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ESLint, Husky, commitlint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GitHub Actions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9658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Snyk y npm audit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5061F4-2EA7-4B7E-BEAB-280DFE946B89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Calidad: nada llega a main sin pasar los controles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548640" y="141732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accent1"/>
                </a:solidFill>
                <a:latin typeface="Calibri"/>
              </a:rPr>
              <a:t>262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48640" y="24231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tests unitarios y de integración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3383280" y="141732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accent1"/>
                </a:solidFill>
                <a:latin typeface="Calibri"/>
              </a:rPr>
              <a:t>5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3383280" y="24231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suites E2E con Playwright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6217920" y="141732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accent1"/>
                </a:solidFill>
                <a:latin typeface="Calibri"/>
              </a:rPr>
              <a:t>3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6217920" y="24231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checks obligatorios en cada PR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9052560" y="141732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accent1"/>
                </a:solidFill>
                <a:latin typeface="Calibri"/>
              </a:rPr>
              <a:t>100 %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9052560" y="24231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cobertura del motor de patrones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aso Commit local"/>
          <p:cNvSpPr/>
          <p:nvPr/>
        </p:nvSpPr>
        <p:spPr>
          <a:xfrm>
            <a:off x="548640" y="3520440"/>
            <a:ext cx="2605680" cy="2514240"/>
          </a:xfrm>
          <a:prstGeom prst="roundRect">
            <a:avLst>
              <a:gd name="adj" fmla="val 5455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Icono Commit local círculo"/>
          <p:cNvSpPr/>
          <p:nvPr/>
        </p:nvSpPr>
        <p:spPr>
          <a:xfrm>
            <a:off x="822960" y="379476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4" name="Icono Commit local" descr="Icono Commit local"/>
          <p:cNvPicPr/>
          <p:nvPr/>
        </p:nvPicPr>
        <p:blipFill>
          <a:blip r:embed="rId1"/>
          <a:stretch/>
        </p:blipFill>
        <p:spPr>
          <a:xfrm>
            <a:off x="994320" y="396612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75" name="Text 11"/>
          <p:cNvSpPr/>
          <p:nvPr/>
        </p:nvSpPr>
        <p:spPr>
          <a:xfrm>
            <a:off x="822960" y="4617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Commit local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822960" y="49834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Husky: ESLint, typecheck y tests. commitlint.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Flecha pipeline 1"/>
          <p:cNvSpPr/>
          <p:nvPr/>
        </p:nvSpPr>
        <p:spPr>
          <a:xfrm>
            <a:off x="3182040" y="4772880"/>
            <a:ext cx="182880" cy="360"/>
          </a:xfrm>
          <a:prstGeom prst="line">
            <a:avLst/>
          </a:prstGeom>
          <a:ln w="1905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aso Pull request"/>
          <p:cNvSpPr/>
          <p:nvPr/>
        </p:nvSpPr>
        <p:spPr>
          <a:xfrm>
            <a:off x="3383280" y="3520440"/>
            <a:ext cx="2605680" cy="2514240"/>
          </a:xfrm>
          <a:prstGeom prst="roundRect">
            <a:avLst>
              <a:gd name="adj" fmla="val 5455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Icono Pull request círculo"/>
          <p:cNvSpPr/>
          <p:nvPr/>
        </p:nvSpPr>
        <p:spPr>
          <a:xfrm>
            <a:off x="3657600" y="379476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cono Pull request" descr="Icono Pull request"/>
          <p:cNvPicPr/>
          <p:nvPr/>
        </p:nvPicPr>
        <p:blipFill>
          <a:blip r:embed="rId2"/>
          <a:stretch/>
        </p:blipFill>
        <p:spPr>
          <a:xfrm>
            <a:off x="3828960" y="396612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81" name="Text 16"/>
          <p:cNvSpPr/>
          <p:nvPr/>
        </p:nvSpPr>
        <p:spPr>
          <a:xfrm>
            <a:off x="3657600" y="4617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Pull request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3657600" y="49834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CI: quality, e2e (rama test de Neon) y Snyk.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Flecha pipeline 2"/>
          <p:cNvSpPr/>
          <p:nvPr/>
        </p:nvSpPr>
        <p:spPr>
          <a:xfrm>
            <a:off x="6016680" y="4772880"/>
            <a:ext cx="182880" cy="360"/>
          </a:xfrm>
          <a:prstGeom prst="line">
            <a:avLst/>
          </a:prstGeom>
          <a:ln w="1905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aso Fusión a main"/>
          <p:cNvSpPr/>
          <p:nvPr/>
        </p:nvSpPr>
        <p:spPr>
          <a:xfrm>
            <a:off x="6217920" y="3520440"/>
            <a:ext cx="2605680" cy="2514240"/>
          </a:xfrm>
          <a:prstGeom prst="roundRect">
            <a:avLst>
              <a:gd name="adj" fmla="val 5455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Icono Fusión a main círculo"/>
          <p:cNvSpPr/>
          <p:nvPr/>
        </p:nvSpPr>
        <p:spPr>
          <a:xfrm>
            <a:off x="6492240" y="379476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Icono Fusión a main" descr="Icono Fusión a main"/>
          <p:cNvPicPr/>
          <p:nvPr/>
        </p:nvPicPr>
        <p:blipFill>
          <a:blip r:embed="rId3"/>
          <a:stretch/>
        </p:blipFill>
        <p:spPr>
          <a:xfrm>
            <a:off x="6663600" y="396612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87" name="Text 21"/>
          <p:cNvSpPr/>
          <p:nvPr/>
        </p:nvSpPr>
        <p:spPr>
          <a:xfrm>
            <a:off x="6492240" y="4617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Fusión a main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2"/>
          <p:cNvSpPr/>
          <p:nvPr/>
        </p:nvSpPr>
        <p:spPr>
          <a:xfrm>
            <a:off x="6492240" y="49834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Imagen Docker publicada en GHCR.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Flecha pipeline 3"/>
          <p:cNvSpPr/>
          <p:nvPr/>
        </p:nvSpPr>
        <p:spPr>
          <a:xfrm>
            <a:off x="8851320" y="4772880"/>
            <a:ext cx="182880" cy="360"/>
          </a:xfrm>
          <a:prstGeom prst="line">
            <a:avLst/>
          </a:prstGeom>
          <a:ln w="19050">
            <a:solidFill>
              <a:srgbClr val="49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aso Despliegue"/>
          <p:cNvSpPr/>
          <p:nvPr/>
        </p:nvSpPr>
        <p:spPr>
          <a:xfrm>
            <a:off x="9052560" y="3520440"/>
            <a:ext cx="2605680" cy="2514240"/>
          </a:xfrm>
          <a:prstGeom prst="roundRect">
            <a:avLst>
              <a:gd name="adj" fmla="val 5455"/>
            </a:avLst>
          </a:prstGeom>
          <a:solidFill>
            <a:srgbClr val="f3f6f9"/>
          </a:solidFill>
          <a:ln w="12700">
            <a:solidFill>
              <a:srgbClr val="f3f6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Icono Despliegue círculo"/>
          <p:cNvSpPr/>
          <p:nvPr/>
        </p:nvSpPr>
        <p:spPr>
          <a:xfrm>
            <a:off x="9326880" y="379476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Icono Despliegue" descr="Icono Despliegue"/>
          <p:cNvPicPr/>
          <p:nvPr/>
        </p:nvPicPr>
        <p:blipFill>
          <a:blip r:embed="rId4"/>
          <a:stretch/>
        </p:blipFill>
        <p:spPr>
          <a:xfrm>
            <a:off x="9498240" y="396612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93" name="Text 26"/>
          <p:cNvSpPr/>
          <p:nvPr/>
        </p:nvSpPr>
        <p:spPr>
          <a:xfrm>
            <a:off x="9326880" y="4617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Despliegue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27"/>
          <p:cNvSpPr/>
          <p:nvPr/>
        </p:nvSpPr>
        <p:spPr>
          <a:xfrm>
            <a:off x="9326880" y="49834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Render despliega y aplica migraciones.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989CA6-713F-4C09-8762-00204BA4F135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Seguridad y privacidad de datos de salud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7" name="Icono Sesión segura círculo"/>
          <p:cNvSpPr/>
          <p:nvPr/>
        </p:nvSpPr>
        <p:spPr>
          <a:xfrm>
            <a:off x="548640" y="1463040"/>
            <a:ext cx="868320" cy="868320"/>
          </a:xfrm>
          <a:prstGeom prst="ellipse">
            <a:avLst/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8" name="Icono Sesión segura" descr="Icono Sesión segura"/>
          <p:cNvPicPr/>
          <p:nvPr/>
        </p:nvPicPr>
        <p:blipFill>
          <a:blip r:embed="rId1"/>
          <a:stretch/>
        </p:blipFill>
        <p:spPr>
          <a:xfrm>
            <a:off x="765720" y="16801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299" name="Text 2"/>
          <p:cNvSpPr/>
          <p:nvPr/>
        </p:nvSpPr>
        <p:spPr>
          <a:xfrm>
            <a:off x="1645920" y="14814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Sesión segura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1645920" y="1874520"/>
            <a:ext cx="429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JWT en cookie httpOnly, protección CSRF y CSP estricta.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Icono Contraseñas círculo"/>
          <p:cNvSpPr/>
          <p:nvPr/>
        </p:nvSpPr>
        <p:spPr>
          <a:xfrm>
            <a:off x="6217920" y="1463040"/>
            <a:ext cx="868320" cy="868320"/>
          </a:xfrm>
          <a:prstGeom prst="ellipse">
            <a:avLst/>
          </a:prstGeom>
          <a:solidFill>
            <a:srgbClr val="ffdbbb"/>
          </a:solidFill>
          <a:ln w="12700">
            <a:solidFill>
              <a:srgbClr val="ffd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Icono Contraseñas" descr="Icono Contraseñas"/>
          <p:cNvPicPr/>
          <p:nvPr/>
        </p:nvPicPr>
        <p:blipFill>
          <a:blip r:embed="rId2"/>
          <a:stretch/>
        </p:blipFill>
        <p:spPr>
          <a:xfrm>
            <a:off x="6435000" y="16801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303" name="Text 5"/>
          <p:cNvSpPr/>
          <p:nvPr/>
        </p:nvSpPr>
        <p:spPr>
          <a:xfrm>
            <a:off x="7315200" y="14814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Contraseñas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7315200" y="1874520"/>
            <a:ext cx="429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bcrypt y mínimo de 12 caracteres; límite de peticiones.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Icono Aislamiento círculo"/>
          <p:cNvSpPr/>
          <p:nvPr/>
        </p:nvSpPr>
        <p:spPr>
          <a:xfrm>
            <a:off x="548640" y="3063240"/>
            <a:ext cx="868320" cy="868320"/>
          </a:xfrm>
          <a:prstGeom prst="ellipse">
            <a:avLst/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Icono Aislamiento" descr="Icono Aislamiento"/>
          <p:cNvPicPr/>
          <p:nvPr/>
        </p:nvPicPr>
        <p:blipFill>
          <a:blip r:embed="rId3"/>
          <a:stretch/>
        </p:blipFill>
        <p:spPr>
          <a:xfrm>
            <a:off x="765720" y="32803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307" name="Text 8"/>
          <p:cNvSpPr/>
          <p:nvPr/>
        </p:nvSpPr>
        <p:spPr>
          <a:xfrm>
            <a:off x="1645920" y="30816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Aislamiento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1645920" y="3474720"/>
            <a:ext cx="429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Cada consulta filtra por el usuario de la sesión.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Icono RGPD art. 20 círculo"/>
          <p:cNvSpPr/>
          <p:nvPr/>
        </p:nvSpPr>
        <p:spPr>
          <a:xfrm>
            <a:off x="6217920" y="3063240"/>
            <a:ext cx="868320" cy="868320"/>
          </a:xfrm>
          <a:prstGeom prst="ellipse">
            <a:avLst/>
          </a:prstGeom>
          <a:solidFill>
            <a:srgbClr val="baddff"/>
          </a:solidFill>
          <a:ln w="12700">
            <a:solidFill>
              <a:srgbClr val="ba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Icono RGPD art. 20" descr="Icono RGPD art. 20"/>
          <p:cNvPicPr/>
          <p:nvPr/>
        </p:nvPicPr>
        <p:blipFill>
          <a:blip r:embed="rId4"/>
          <a:stretch/>
        </p:blipFill>
        <p:spPr>
          <a:xfrm>
            <a:off x="6435000" y="32803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311" name="Text 11"/>
          <p:cNvSpPr/>
          <p:nvPr/>
        </p:nvSpPr>
        <p:spPr>
          <a:xfrm>
            <a:off x="7315200" y="30816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RGPD art. 20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7315200" y="3474720"/>
            <a:ext cx="429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Descarga de todos tus datos en JSON.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Icono RGPD art. 17 círculo"/>
          <p:cNvSpPr/>
          <p:nvPr/>
        </p:nvSpPr>
        <p:spPr>
          <a:xfrm>
            <a:off x="548640" y="4663440"/>
            <a:ext cx="868320" cy="868320"/>
          </a:xfrm>
          <a:prstGeom prst="ellipse">
            <a:avLst/>
          </a:prstGeom>
          <a:solidFill>
            <a:srgbClr val="bafff5"/>
          </a:solidFill>
          <a:ln w="12700">
            <a:solidFill>
              <a:srgbClr val="baf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4" name="Icono RGPD art. 17" descr="Icono RGPD art. 17"/>
          <p:cNvPicPr/>
          <p:nvPr/>
        </p:nvPicPr>
        <p:blipFill>
          <a:blip r:embed="rId5"/>
          <a:stretch/>
        </p:blipFill>
        <p:spPr>
          <a:xfrm>
            <a:off x="765720" y="48805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315" name="Text 14"/>
          <p:cNvSpPr/>
          <p:nvPr/>
        </p:nvSpPr>
        <p:spPr>
          <a:xfrm>
            <a:off x="1645920" y="46818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RGPD art. 17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1645920" y="5074920"/>
            <a:ext cx="429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Borrado de la cuenta en cascada, en una transacción.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Icono Datos en la UE círculo"/>
          <p:cNvSpPr/>
          <p:nvPr/>
        </p:nvSpPr>
        <p:spPr>
          <a:xfrm>
            <a:off x="6217920" y="4663440"/>
            <a:ext cx="868320" cy="868320"/>
          </a:xfrm>
          <a:prstGeom prst="ellipse">
            <a:avLst/>
          </a:prstGeom>
          <a:solidFill>
            <a:srgbClr val="bafff5"/>
          </a:solidFill>
          <a:ln w="12700">
            <a:solidFill>
              <a:srgbClr val="baf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Icono Datos en la UE" descr="Icono Datos en la UE"/>
          <p:cNvPicPr/>
          <p:nvPr/>
        </p:nvPicPr>
        <p:blipFill>
          <a:blip r:embed="rId6"/>
          <a:stretch/>
        </p:blipFill>
        <p:spPr>
          <a:xfrm>
            <a:off x="6435000" y="48805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319" name="Text 17"/>
          <p:cNvSpPr/>
          <p:nvPr/>
        </p:nvSpPr>
        <p:spPr>
          <a:xfrm>
            <a:off x="7315200" y="46818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Datos en la UE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8"/>
          <p:cNvSpPr/>
          <p:nvPr/>
        </p:nvSpPr>
        <p:spPr>
          <a:xfrm>
            <a:off x="7315200" y="5074920"/>
            <a:ext cx="429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Calibri"/>
              </a:rPr>
              <a:t>Render, Neon y Sentry en Frankfurt; sin datos de salud en Sentry.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6FA38C-65EA-48E8-BA77-4102BCCE7B85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Despliegue: pruébalo ahora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3" name="Tarjeta de acceso a la demo"/>
          <p:cNvSpPr/>
          <p:nvPr/>
        </p:nvSpPr>
        <p:spPr>
          <a:xfrm>
            <a:off x="548640" y="1417320"/>
            <a:ext cx="5486040" cy="4617360"/>
          </a:xfrm>
          <a:prstGeom prst="roundRect">
            <a:avLst>
              <a:gd name="adj" fmla="val 2970"/>
            </a:avLst>
          </a:prstGeom>
          <a:solidFill>
            <a:srgbClr val="243242"/>
          </a:solidFill>
          <a:ln w="12700">
            <a:solidFill>
              <a:srgbClr val="2432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914400" y="17373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Demo pública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3">
            <a:hlinkClick r:id="rId1"/>
          </p:cNvPr>
          <p:cNvSpPr/>
          <p:nvPr/>
        </p:nvSpPr>
        <p:spPr>
          <a:xfrm>
            <a:off x="914400" y="210312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 u="sng">
                <a:solidFill>
                  <a:srgbClr val="bafff5"/>
                </a:solidFill>
                <a:uFillTx/>
                <a:latin typeface="Calibri"/>
                <a:hlinkClick r:id="rId2"/>
              </a:rPr>
              <a:t>cuidat.onrender.com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4"/>
          <p:cNvSpPr/>
          <p:nvPr/>
        </p:nvSpPr>
        <p:spPr>
          <a:xfrm>
            <a:off x="914400" y="301752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Usuario de prueba del profesorado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5"/>
          <p:cNvSpPr/>
          <p:nvPr/>
        </p:nvSpPr>
        <p:spPr>
          <a:xfrm>
            <a:off x="914400" y="342900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ourier New"/>
                <a:ea typeface="Courier New"/>
              </a:rPr>
              <a:t>profesorado@cuidat.test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ourier New"/>
                <a:ea typeface="Courier New"/>
              </a:rPr>
              <a:t>MasterIA-Correccion-2026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914400" y="452628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</a:rPr>
              <a:t>O sin escribir nada: Iniciar sesión → Acceso rápido profesorado. La primera carga puede tardar hasta un minuto (plan gratuito de Render).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Icono Una sola imagen Docker círculo"/>
          <p:cNvSpPr/>
          <p:nvPr/>
        </p:nvSpPr>
        <p:spPr>
          <a:xfrm>
            <a:off x="6400800" y="146304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Icono Una sola imagen Docker" descr="Icono Una sola imagen Docker"/>
          <p:cNvPicPr/>
          <p:nvPr/>
        </p:nvPicPr>
        <p:blipFill>
          <a:blip r:embed="rId3"/>
          <a:stretch/>
        </p:blipFill>
        <p:spPr>
          <a:xfrm>
            <a:off x="6572160" y="163440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331" name="Text 8"/>
          <p:cNvSpPr/>
          <p:nvPr/>
        </p:nvSpPr>
        <p:spPr>
          <a:xfrm>
            <a:off x="7269480" y="14446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Una sola imagen Docker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7269480" y="181044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Express sirve la app compilada y la API desde el mismo origen.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Icono Despliegue automático círculo"/>
          <p:cNvSpPr/>
          <p:nvPr/>
        </p:nvSpPr>
        <p:spPr>
          <a:xfrm>
            <a:off x="6400800" y="262440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cono Despliegue automático" descr="Icono Despliegue automático"/>
          <p:cNvPicPr/>
          <p:nvPr/>
        </p:nvPicPr>
        <p:blipFill>
          <a:blip r:embed="rId4"/>
          <a:stretch/>
        </p:blipFill>
        <p:spPr>
          <a:xfrm>
            <a:off x="6572160" y="279576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335" name="Text 11"/>
          <p:cNvSpPr/>
          <p:nvPr/>
        </p:nvSpPr>
        <p:spPr>
          <a:xfrm>
            <a:off x="7269480" y="26060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Despliegue automático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2"/>
          <p:cNvSpPr/>
          <p:nvPr/>
        </p:nvSpPr>
        <p:spPr>
          <a:xfrm>
            <a:off x="7269480" y="297180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Cada fusión a main despliega y aplica las migraciones pendientes.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Icono Health check círculo"/>
          <p:cNvSpPr/>
          <p:nvPr/>
        </p:nvSpPr>
        <p:spPr>
          <a:xfrm>
            <a:off x="6400800" y="378576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Icono Health check" descr="Icono Health check"/>
          <p:cNvPicPr/>
          <p:nvPr/>
        </p:nvPicPr>
        <p:blipFill>
          <a:blip r:embed="rId5"/>
          <a:stretch/>
        </p:blipFill>
        <p:spPr>
          <a:xfrm>
            <a:off x="6572160" y="395712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339" name="Text 14"/>
          <p:cNvSpPr/>
          <p:nvPr/>
        </p:nvSpPr>
        <p:spPr>
          <a:xfrm>
            <a:off x="7269480" y="37674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Health check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7269480" y="413316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GET /api/health para Render y el keep-warm opcional.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Icono Código abierto círculo"/>
          <p:cNvSpPr/>
          <p:nvPr/>
        </p:nvSpPr>
        <p:spPr>
          <a:xfrm>
            <a:off x="6400800" y="4946760"/>
            <a:ext cx="685440" cy="685440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Icono Código abierto" descr="Icono Código abierto"/>
          <p:cNvPicPr/>
          <p:nvPr/>
        </p:nvPicPr>
        <p:blipFill>
          <a:blip r:embed="rId6"/>
          <a:stretch/>
        </p:blipFill>
        <p:spPr>
          <a:xfrm>
            <a:off x="6572160" y="51184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343" name="Text 17"/>
          <p:cNvSpPr/>
          <p:nvPr/>
        </p:nvSpPr>
        <p:spPr>
          <a:xfrm>
            <a:off x="7269480" y="49287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Código abierto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8">
            <a:hlinkClick r:id="rId7"/>
          </p:cNvPr>
          <p:cNvSpPr/>
          <p:nvPr/>
        </p:nvSpPr>
        <p:spPr>
          <a:xfrm>
            <a:off x="7269480" y="529452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chemeClr val="dk2"/>
                </a:solidFill>
                <a:uFillTx/>
                <a:latin typeface="Calibri"/>
                <a:hlinkClick r:id="rId8"/>
              </a:rPr>
              <a:t>github.com/Cristina-F-R/CuidaT_healtControl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ldNum" idx="15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504744-B73E-41ED-B479-D599CE9A655A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La IA como compañera de desarrollo, no como autora</a:t>
            </a:r>
            <a:endParaRPr b="0" lang="es-E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7" name="Paso IA 1"/>
          <p:cNvSpPr/>
          <p:nvPr/>
        </p:nvSpPr>
        <p:spPr>
          <a:xfrm>
            <a:off x="548640" y="1554480"/>
            <a:ext cx="822600" cy="822600"/>
          </a:xfrm>
          <a:prstGeom prst="ellipse">
            <a:avLst/>
          </a:prstGeom>
          <a:solidFill>
            <a:srgbClr val="496580"/>
          </a:solidFill>
          <a:ln w="12700">
            <a:solidFill>
              <a:srgbClr val="49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"/>
          <p:cNvSpPr/>
          <p:nvPr/>
        </p:nvSpPr>
        <p:spPr>
          <a:xfrm>
            <a:off x="548640" y="15544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Conector IA 1"/>
          <p:cNvSpPr/>
          <p:nvPr/>
        </p:nvSpPr>
        <p:spPr>
          <a:xfrm>
            <a:off x="1508760" y="1965960"/>
            <a:ext cx="1737360" cy="360"/>
          </a:xfrm>
          <a:prstGeom prst="line">
            <a:avLst/>
          </a:prstGeom>
          <a:ln w="19050">
            <a:solidFill>
              <a:srgbClr val="a8b9c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548640" y="26060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Especificar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5"/>
          <p:cNvSpPr/>
          <p:nvPr/>
        </p:nvSpPr>
        <p:spPr>
          <a:xfrm>
            <a:off x="548640" y="3063240"/>
            <a:ext cx="2559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2"/>
                </a:solidFill>
                <a:latin typeface="Calibri"/>
              </a:rPr>
              <a:t>Tech_spec, guía de estilo y decisiones de arquitectura (ADR) redactadas con la IA.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aso IA 2"/>
          <p:cNvSpPr/>
          <p:nvPr/>
        </p:nvSpPr>
        <p:spPr>
          <a:xfrm>
            <a:off x="3383280" y="1554480"/>
            <a:ext cx="822600" cy="822600"/>
          </a:xfrm>
          <a:prstGeom prst="ellipse">
            <a:avLst/>
          </a:prstGeom>
          <a:solidFill>
            <a:srgbClr val="496580"/>
          </a:solidFill>
          <a:ln w="12700">
            <a:solidFill>
              <a:srgbClr val="49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3383280" y="15544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onector IA 2"/>
          <p:cNvSpPr/>
          <p:nvPr/>
        </p:nvSpPr>
        <p:spPr>
          <a:xfrm>
            <a:off x="4343400" y="1965960"/>
            <a:ext cx="1737360" cy="360"/>
          </a:xfrm>
          <a:prstGeom prst="line">
            <a:avLst/>
          </a:prstGeom>
          <a:ln w="19050">
            <a:solidFill>
              <a:srgbClr val="a8b9c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9"/>
          <p:cNvSpPr/>
          <p:nvPr/>
        </p:nvSpPr>
        <p:spPr>
          <a:xfrm>
            <a:off x="3383280" y="26060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Planificar por fases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3383280" y="3063240"/>
            <a:ext cx="2559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2"/>
                </a:solidFill>
                <a:latin typeface="Calibri"/>
              </a:rPr>
              <a:t>Un prompt por fase en docs/Nova_guia_prompts.md.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aso IA 3"/>
          <p:cNvSpPr/>
          <p:nvPr/>
        </p:nvSpPr>
        <p:spPr>
          <a:xfrm>
            <a:off x="6217920" y="1554480"/>
            <a:ext cx="822600" cy="822600"/>
          </a:xfrm>
          <a:prstGeom prst="ellipse">
            <a:avLst/>
          </a:prstGeom>
          <a:solidFill>
            <a:srgbClr val="496580"/>
          </a:solidFill>
          <a:ln w="12700">
            <a:solidFill>
              <a:srgbClr val="49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2"/>
          <p:cNvSpPr/>
          <p:nvPr/>
        </p:nvSpPr>
        <p:spPr>
          <a:xfrm>
            <a:off x="6217920" y="15544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</a:rPr>
              <a:t>3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onector IA 3"/>
          <p:cNvSpPr/>
          <p:nvPr/>
        </p:nvSpPr>
        <p:spPr>
          <a:xfrm>
            <a:off x="7178040" y="1965960"/>
            <a:ext cx="1737360" cy="360"/>
          </a:xfrm>
          <a:prstGeom prst="line">
            <a:avLst/>
          </a:prstGeom>
          <a:ln w="19050">
            <a:solidFill>
              <a:srgbClr val="a8b9c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14"/>
          <p:cNvSpPr/>
          <p:nvPr/>
        </p:nvSpPr>
        <p:spPr>
          <a:xfrm>
            <a:off x="6217920" y="26060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Implementar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5"/>
          <p:cNvSpPr/>
          <p:nvPr/>
        </p:nvSpPr>
        <p:spPr>
          <a:xfrm>
            <a:off x="6217920" y="3063240"/>
            <a:ext cx="2559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2"/>
                </a:solidFill>
                <a:latin typeface="Calibri"/>
              </a:rPr>
              <a:t>El agente de código sigue los documentos y deja por escrito sus decisiones.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aso IA 4"/>
          <p:cNvSpPr/>
          <p:nvPr/>
        </p:nvSpPr>
        <p:spPr>
          <a:xfrm>
            <a:off x="9052560" y="1554480"/>
            <a:ext cx="822600" cy="822600"/>
          </a:xfrm>
          <a:prstGeom prst="ellipse">
            <a:avLst/>
          </a:prstGeom>
          <a:solidFill>
            <a:srgbClr val="496580"/>
          </a:solidFill>
          <a:ln w="12700">
            <a:solidFill>
              <a:srgbClr val="49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7"/>
          <p:cNvSpPr/>
          <p:nvPr/>
        </p:nvSpPr>
        <p:spPr>
          <a:xfrm>
            <a:off x="9052560" y="15544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</a:rPr>
              <a:t>4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8"/>
          <p:cNvSpPr/>
          <p:nvPr/>
        </p:nvSpPr>
        <p:spPr>
          <a:xfrm>
            <a:off x="9052560" y="26060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Revisar y decidir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9"/>
          <p:cNvSpPr/>
          <p:nvPr/>
        </p:nvSpPr>
        <p:spPr>
          <a:xfrm>
            <a:off x="9052560" y="3063240"/>
            <a:ext cx="2559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2"/>
                </a:solidFill>
                <a:latin typeface="Calibri"/>
              </a:rPr>
              <a:t>Yo pruebo, corrijo el rumbo y valido. Tests y CI son la red de seguridad.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Ejemplo de decisión humana"/>
          <p:cNvSpPr/>
          <p:nvPr/>
        </p:nvSpPr>
        <p:spPr>
          <a:xfrm>
            <a:off x="548640" y="4663440"/>
            <a:ext cx="11063880" cy="1371240"/>
          </a:xfrm>
          <a:prstGeom prst="roundRect">
            <a:avLst>
              <a:gd name="adj" fmla="val 10000"/>
            </a:avLst>
          </a:prstGeom>
          <a:solidFill>
            <a:srgbClr val="fff3ba"/>
          </a:solidFill>
          <a:ln w="12700">
            <a:solidFill>
              <a:srgbClr val="fff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21"/>
          <p:cNvSpPr/>
          <p:nvPr/>
        </p:nvSpPr>
        <p:spPr>
          <a:xfrm>
            <a:off x="868680" y="4663440"/>
            <a:ext cx="10423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Ejemplo de decisión humana: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al probar el modo consulta vi que marcar los días del síntoma no ayudaba, y decidí marcar los del desencadenante, la posible causa. Sustituir alguna librería recomendada por otra bajo diversas consideraciones de mejor adecuación.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Num" idx="16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f7c9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B312AE-8EE2-407C-98C2-F13DD61A8C02}" type="slidenum">
              <a:rPr b="0" lang="en-US" sz="1000" spc="-1" strike="noStrike">
                <a:solidFill>
                  <a:srgbClr val="5f7c94"/>
                </a:solidFill>
                <a:latin typeface="Calibri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40080" y="2194560"/>
            <a:ext cx="640044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Calibri"/>
              </a:rPr>
              <a:t>Gracias</a:t>
            </a:r>
            <a:endParaRPr b="0" lang="es-E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640080" y="3611880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</a:rPr>
              <a:t>Con IA se puede construir una aplicación profesional, segura y probada, siempre que el criterio y las decisiones sigan siendo humanos.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6949440" y="2286000"/>
            <a:ext cx="46630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Próximos pasos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8b9c8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Recuperación de contraseña por correo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8b9c8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Mejora de características para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a8b9c8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Mejora de detección de patrones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3"/>
          <p:cNvSpPr/>
          <p:nvPr/>
        </p:nvSpPr>
        <p:spPr>
          <a:xfrm>
            <a:off x="6949440" y="457200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Demo: </a:t>
            </a:r>
            <a:r>
              <a:rPr b="0" lang="en-US" sz="1600" spc="-1" strike="noStrike" u="sng">
                <a:solidFill>
                  <a:srgbClr val="bafff5"/>
                </a:solidFill>
                <a:uFillTx/>
                <a:latin typeface="Calibri"/>
                <a:hlinkClick r:id="rId1"/>
              </a:rPr>
              <a:t>cuidat.onrender.com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Código: </a:t>
            </a:r>
            <a:r>
              <a:rPr b="0" lang="en-US" sz="1600" spc="-1" strike="noStrike">
                <a:solidFill>
                  <a:srgbClr val="a8b9c8"/>
                </a:solidFill>
                <a:latin typeface="Calibri"/>
                <a:hlinkClick r:id="rId2"/>
              </a:rPr>
              <a:t>https://github.com/Cristina-F-R/CuidaT_healtControl</a:t>
            </a:r>
            <a:br>
              <a:rPr sz="1600"/>
            </a:br>
            <a:r>
              <a:rPr b="0" lang="en-US" sz="1600" spc="-1" strike="noStrike">
                <a:solidFill>
                  <a:srgbClr val="a8b9c8"/>
                </a:solidFill>
                <a:latin typeface="Calibri"/>
              </a:rPr>
              <a:t>Video-presentación: </a:t>
            </a:r>
            <a:r>
              <a:rPr b="0" lang="en-US" sz="1600" spc="-1" strike="noStrike">
                <a:solidFill>
                  <a:srgbClr val="a8b9c8"/>
                </a:solidFill>
                <a:latin typeface="Calibri"/>
                <a:hlinkClick r:id="rId3"/>
              </a:rPr>
              <a:t>https://drive.google.com/file/d/1zNE8S_Nzw4MQMOzUewkzkWqABai-yuIK/view?usp=drive_link</a:t>
            </a:r>
            <a:br>
              <a:rPr sz="1600"/>
            </a:b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idaT">
  <a:themeElements>
    <a:clrScheme name="CuidaT">
      <a:dk1>
        <a:srgbClr val="243242"/>
      </a:dk1>
      <a:lt1>
        <a:srgbClr val="ffffff"/>
      </a:lt1>
      <a:dk2>
        <a:srgbClr val="496580"/>
      </a:dk2>
      <a:lt2>
        <a:srgbClr val="f3f6f9"/>
      </a:lt2>
      <a:accent1>
        <a:srgbClr val="496580"/>
      </a:accent1>
      <a:accent2>
        <a:srgbClr val="ffdbbb"/>
      </a:accent2>
      <a:accent3>
        <a:srgbClr val="fff3ba"/>
      </a:accent3>
      <a:accent4>
        <a:srgbClr val="bafff5"/>
      </a:accent4>
      <a:accent5>
        <a:srgbClr val="baddff"/>
      </a:accent5>
      <a:accent6>
        <a:srgbClr val="5f7c94"/>
      </a:accent6>
      <a:hlink>
        <a:srgbClr val="496580"/>
      </a:hlink>
      <a:folHlink>
        <a:srgbClr val="2f4153"/>
      </a:folHlink>
    </a:clrScheme>
    <a:fontScheme name="CuidaT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idaT">
  <a:themeElements>
    <a:clrScheme name="CuidaT">
      <a:dk1>
        <a:srgbClr val="243242"/>
      </a:dk1>
      <a:lt1>
        <a:srgbClr val="ffffff"/>
      </a:lt1>
      <a:dk2>
        <a:srgbClr val="496580"/>
      </a:dk2>
      <a:lt2>
        <a:srgbClr val="f3f6f9"/>
      </a:lt2>
      <a:accent1>
        <a:srgbClr val="496580"/>
      </a:accent1>
      <a:accent2>
        <a:srgbClr val="ffdbbb"/>
      </a:accent2>
      <a:accent3>
        <a:srgbClr val="fff3ba"/>
      </a:accent3>
      <a:accent4>
        <a:srgbClr val="bafff5"/>
      </a:accent4>
      <a:accent5>
        <a:srgbClr val="baddff"/>
      </a:accent5>
      <a:accent6>
        <a:srgbClr val="5f7c94"/>
      </a:accent6>
      <a:hlink>
        <a:srgbClr val="496580"/>
      </a:hlink>
      <a:folHlink>
        <a:srgbClr val="2f4153"/>
      </a:folHlink>
    </a:clrScheme>
    <a:fontScheme name="CuidaT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1120</TotalTime>
  <Application>LibreOffice/7.6.0.3$Windows_X86_64 LibreOffice_project/69edd8b8ebc41d00b4de3915dc82f8f0fc3b6265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2026-10-25T18:25:47Z</dcterms:created>
  <dc:creator>Cristina Faixedas</dc:creator>
  <dc:description/>
  <dc:language>es-ES</dc:language>
  <cp:lastModifiedBy/>
  <dcterms:modified xsi:type="dcterms:W3CDTF">2026-10-26T14:09:14Z</dcterms:modified>
  <cp:revision>3</cp:revision>
  <dc:subject>PptxGenJS Presentation</dc:subject>
  <dc:title>CuidaT · Trabajo Final de Máster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